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671" r:id="rId1"/>
  </p:sldMasterIdLst>
  <p:notesMasterIdLst>
    <p:notesMasterId r:id="rId13"/>
  </p:notesMasterIdLst>
  <p:sldIdLst>
    <p:sldId id="256" r:id="rId2"/>
    <p:sldId id="279" r:id="rId3"/>
    <p:sldId id="285" r:id="rId4"/>
    <p:sldId id="286" r:id="rId5"/>
    <p:sldId id="284" r:id="rId6"/>
    <p:sldId id="290" r:id="rId7"/>
    <p:sldId id="288" r:id="rId8"/>
    <p:sldId id="291" r:id="rId9"/>
    <p:sldId id="287" r:id="rId10"/>
    <p:sldId id="289" r:id="rId11"/>
    <p:sldId id="29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95899"/>
  </p:normalViewPr>
  <p:slideViewPr>
    <p:cSldViewPr snapToGrid="0">
      <p:cViewPr varScale="1">
        <p:scale>
          <a:sx n="139" d="100"/>
          <a:sy n="139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187D35-3745-DF43-A5F0-6218B46BD57B}" type="datetimeFigureOut">
              <a:rPr lang="en-US" smtClean="0"/>
              <a:t>5/3/26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BE61B3-A10F-914C-BB47-27502688C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108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BE61B3-A10F-914C-BB47-27502688C28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46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E5414-E891-8D47-5796-C02CA8C80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DE6296-11AD-04E1-69DA-4B110B2F84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1AD4B1-2132-8B27-7DE4-2AF6310FFE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352725-ACF9-A8F4-96E1-61430B8147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BE61B3-A10F-914C-BB47-27502688C28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8939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DB779-5CA4-0968-1153-2E0F3ECF0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A2572C-54FB-5C0F-CB90-6533C5599E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F6C56A-E791-AFDC-81B0-6BB8C84BA9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3B815A-F04C-C794-7FA2-6CF7E0AE37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BE61B3-A10F-914C-BB47-27502688C28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846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E3D2D-B67F-EA7F-50FC-01BDBB346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27EAF2-75D3-5965-EBD7-C96F00B2E5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8BD25A-BE15-59E0-5813-B96F1E2AB5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75E34E-D701-0093-842B-3A9B74EEC5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BE61B3-A10F-914C-BB47-27502688C28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597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398FC-B5AB-54B2-C94B-2884F0C40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4B893C-40B9-4971-5F23-2DCDCDC99F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B0AE43-7282-9DE0-7071-C7DED34AEF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425A3C-CDB7-774C-639B-08FF3A8C5B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BE61B3-A10F-914C-BB47-27502688C28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9998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53E55-8ABB-3A3C-1209-4FAC5D746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5422A2-7164-3DC2-D917-1CEC3DF120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677D82-E757-2C59-5C20-6FC9A50046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B96022-16E5-99EA-73A3-9950456157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BE61B3-A10F-914C-BB47-27502688C28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9717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3B35F-D414-4A7A-84DD-619AEA211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D10712-A399-8EE5-8092-B5D31975F9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C2DE33-7F2F-BFE1-B97F-D10AC8C236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16997D-EBCD-A0CF-55D3-2BDE3B3E3E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BE61B3-A10F-914C-BB47-27502688C28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0594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54CB1-FB5B-2331-3E76-37BD1778B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D45773-B6CA-12A1-D0F9-FE2871C5C1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D07DEC-112B-9EB8-04A2-5DF3D72AA1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E0F61B-1543-AEB3-67A3-D64EBB5033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BE61B3-A10F-914C-BB47-27502688C28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8352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E8FC0-526D-FAAE-FE03-D4F2AE02B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A00564-509B-DA6A-C7BD-8128747205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39A9EE-8975-A9E6-2050-B319ED4134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09DA43-4ECC-19E0-455F-B5FA9D15ED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BE61B3-A10F-914C-BB47-27502688C28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0826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38384-D6E3-6511-ABDD-1B7DA034B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56A64E-A316-1A57-0926-B132027205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3A5749-A12C-907B-9862-E245954FFF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3F6E3E-3EE8-8041-9815-A1CBF0CF6E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BE61B3-A10F-914C-BB47-27502688C28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682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2FF52-8DD0-924D-5D40-5187E5898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11880D-D185-D108-80DD-F989ACBFFD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E99B32-4A0F-912C-13FF-0582926293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D1BB58-9560-55C4-D4A0-187E8A9387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BE61B3-A10F-914C-BB47-27502688C28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9507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B2DD6-4692-AFD1-AFE0-6C7B1D8445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C65113-DFD7-381C-590D-9678984B72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26128-ECF2-3A66-3A43-4D3DE4165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8A37A-D03C-0D4E-90C5-F16ED27E8493}" type="datetime1">
              <a:rPr lang="en-US" smtClean="0"/>
              <a:t>5/3/26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DECF6F-6B17-8732-705E-372600500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54029-476F-A3A3-AFBA-E1026A36F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83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84398-36EC-6F6F-D337-F07AE808C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060E9-C381-36EF-33FD-1B6A91704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B369B-891E-EB79-DAAE-738797BF5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8E075-4027-B941-B3B5-F9742049DFD2}" type="datetime1">
              <a:rPr lang="en-US" smtClean="0"/>
              <a:t>5/3/26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61F30-6460-0EB7-060F-1121B3FBF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D3F4F-DCB5-3AFE-7368-715A9A6D1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7352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9497C-75EA-80FC-A794-F32E697D1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CE7FD-C678-FBE1-49D4-B1B0E22B79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CF4B77-ED06-58D3-B7EE-19B59B1EB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0DF5A-130A-B247-BA9E-389E8473A448}" type="datetime1">
              <a:rPr lang="en-US" smtClean="0"/>
              <a:t>5/3/26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476676-03EA-F28E-FBB9-1A167691D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FE3D37-0C34-838E-EE49-8B6C3B903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817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C33A5-8AD9-EFA3-FB4A-0146F8415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E8764-4CAC-3E88-1708-E9273C00E6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882A37-9DB0-61DD-9C78-03CB57B02F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3132AE-1F7E-F831-5FD8-0AB05A915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F23A8-A183-D341-816A-41E7C071796E}" type="datetime1">
              <a:rPr lang="en-US" smtClean="0"/>
              <a:t>5/3/26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8A1670-D880-3542-7940-8A194DAFA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EE866D-DD3E-2D57-856D-A5A7CBC9F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594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0CA53-394A-3C58-CA48-28D6E7C74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3BD3AF-A0A2-368B-0076-2C29DDD7EB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3973F8-0C59-C68D-E5F0-01401E934E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27AD3C-2A1B-0A66-483D-F501134A90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273840-92F1-8570-7ACB-6ADCDD49AA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5E9095-D893-C08F-2EB9-B3EC92079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FAC50-126A-CC4C-9290-1B3A79DC4BBA}" type="datetime1">
              <a:rPr lang="en-US" smtClean="0"/>
              <a:t>5/3/26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CB510B-BB26-7A89-6832-C7888C0C2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6408CF-E9C0-76A8-8A33-CA76FC102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5068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426D5-9B43-1ABE-C24C-C2E7C73F2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96A973-70C6-4488-B50E-C57AB28AD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D9CB7-E0E9-3642-9BCD-D9CC4920FAB7}" type="datetime1">
              <a:rPr lang="en-US" smtClean="0"/>
              <a:t>5/3/26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B6BABA-4A5C-C11E-D67C-D3E8DA5CB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FD683F-E727-6D83-285E-1EA46114B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797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62B374-988A-6341-AA88-6E8E9FAD5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22C53-44E8-C340-954E-D20BFDCD5FDE}" type="datetime1">
              <a:rPr lang="en-US" smtClean="0"/>
              <a:t>5/3/26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4703DC-945A-F7DE-0DE7-0E34E0B55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5D45A0-F89D-81FE-5614-0807C43AD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47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2CD82-71E3-D6F7-9F9F-158E47700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775FE-93B2-DA40-6812-0F1E9B830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20680F-7ACB-C6A7-7314-9D8D30352E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037171-CD6A-2CEE-E9BD-FD47F55EB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CC921-7489-AD42-8A6A-9964C64A0E3A}" type="datetime1">
              <a:rPr lang="en-US" smtClean="0"/>
              <a:t>5/3/26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527B9F-93C3-B94E-8AC9-507750A1E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DE177-87C9-23FA-A97F-87082A101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827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F8657-F872-ED7B-FB40-F496D32F7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D6C70C-0665-0C87-1798-2C3ABFA7E4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722425-D9AF-84B4-2CDB-51B0116425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BF9E5C-56C0-569B-D560-C9EE68913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54F46-6CED-E242-AB1D-CAC82200DAC9}" type="datetime1">
              <a:rPr lang="en-US" smtClean="0"/>
              <a:t>5/3/26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A7C190-0EB2-FA73-667C-3D8777C13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569E64-9B68-C1FB-32D9-91EBDDA66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4605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53207-38B5-87F9-FD67-4476856B5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3B6B05-0D32-7E8A-DF44-C5987F069A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E7185-B439-58BD-D968-91BBF5F2E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08706-9C99-834A-BBE9-727B6F1D5984}" type="datetime1">
              <a:rPr lang="en-US" smtClean="0"/>
              <a:t>5/3/26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29E2A-90C0-FE86-C50E-D7AC8F392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FDEBA-7CCC-023A-086F-AFAC12953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3724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A0E386-71CC-BCB0-5F33-246C94B67B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5F63E3-C967-BEB1-C2F2-2E07A54A1F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41A884-E9A1-D02B-2DD5-300BBEC63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3CE5E-EE18-6741-B58E-CCE5BB57B987}" type="datetime1">
              <a:rPr lang="en-US" smtClean="0"/>
              <a:t>5/3/26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0FB1C-52A5-CADA-8817-D9D913723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290F3-D57D-0B88-13F1-5592FC592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092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0E33C1-2D75-A6C7-D180-95EA8FC34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6E08D2-53F6-CF80-2208-D6A68CDCF8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13BE3-8B6D-53F7-CB94-673F3C8F22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8ED281-3AC9-584C-8429-EF5C7C9DE851}" type="datetime1">
              <a:rPr lang="en-US" smtClean="0"/>
              <a:t>5/3/26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2450-D77D-E9F2-BDAE-7DE7E91F44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070442-C687-DE41-B219-07A74BE98A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542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72" r:id="rId1"/>
    <p:sldLayoutId id="2147484673" r:id="rId2"/>
    <p:sldLayoutId id="2147484674" r:id="rId3"/>
    <p:sldLayoutId id="2147484675" r:id="rId4"/>
    <p:sldLayoutId id="2147484676" r:id="rId5"/>
    <p:sldLayoutId id="2147484677" r:id="rId6"/>
    <p:sldLayoutId id="2147484678" r:id="rId7"/>
    <p:sldLayoutId id="2147484679" r:id="rId8"/>
    <p:sldLayoutId id="2147484680" r:id="rId9"/>
    <p:sldLayoutId id="2147484681" r:id="rId10"/>
    <p:sldLayoutId id="214748468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8.png"/><Relationship Id="rId5" Type="http://schemas.openxmlformats.org/officeDocument/2006/relationships/hyperlink" Target="https://public.tableau.com/app/profile/amal.rozario/viz/RDOFPolicyRecommendations/Dashboard1" TargetMode="Externa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8CACD-9E3A-F322-5E13-A6ACDB1979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3582" y="702666"/>
            <a:ext cx="10249795" cy="2479720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Federal Funding </a:t>
            </a:r>
            <a:br>
              <a:rPr lang="en-US" dirty="0"/>
            </a:br>
            <a:r>
              <a:rPr lang="en-US" dirty="0"/>
              <a:t>on </a:t>
            </a:r>
            <a:br>
              <a:rPr lang="en-US" dirty="0"/>
            </a:br>
            <a:r>
              <a:rPr lang="en-US" dirty="0"/>
              <a:t>Broadband Equity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2EFC71-CD5E-3AED-7F55-CFFEE3B93F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0999" y="4476163"/>
            <a:ext cx="6864928" cy="1966201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en-US" sz="6200" noProof="0" dirty="0">
                <a:solidFill>
                  <a:schemeClr val="tx1"/>
                </a:solidFill>
              </a:rPr>
              <a:t>Amal Michael</a:t>
            </a:r>
          </a:p>
          <a:p>
            <a:pPr algn="l"/>
            <a:r>
              <a:rPr lang="en-US" sz="6200" noProof="0" dirty="0">
                <a:solidFill>
                  <a:schemeClr val="tx1"/>
                </a:solidFill>
              </a:rPr>
              <a:t>Regis University</a:t>
            </a:r>
          </a:p>
          <a:p>
            <a:pPr algn="l"/>
            <a:r>
              <a:rPr lang="en-US" sz="6200" dirty="0">
                <a:solidFill>
                  <a:schemeClr val="tx1"/>
                </a:solidFill>
              </a:rPr>
              <a:t>MSDS696_Data_Science_Practicum II</a:t>
            </a:r>
          </a:p>
          <a:p>
            <a:pPr algn="l"/>
            <a:r>
              <a:rPr lang="en-US" sz="6200" dirty="0">
                <a:solidFill>
                  <a:schemeClr val="tx1"/>
                </a:solidFill>
              </a:rPr>
              <a:t>Final Presentation</a:t>
            </a:r>
          </a:p>
          <a:p>
            <a:pPr algn="l"/>
            <a:r>
              <a:rPr lang="en-US" sz="6200" dirty="0">
                <a:solidFill>
                  <a:schemeClr val="tx1"/>
                </a:solidFill>
              </a:rPr>
              <a:t>Apr 30 2026</a:t>
            </a:r>
          </a:p>
          <a:p>
            <a:pPr algn="l"/>
            <a:endParaRPr lang="en-US" sz="6200" dirty="0">
              <a:solidFill>
                <a:schemeClr val="tx1"/>
              </a:solidFill>
            </a:endParaRP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1F0B41-5113-4A5E-675E-BA8749A0B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9387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394"/>
    </mc:Choice>
    <mc:Fallback xmlns="">
      <p:transition spd="slow" advTm="12394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78978-D907-63F7-BAD0-049726534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4CB1-8DC6-27DB-C13E-B9DD6B71B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8"/>
            <a:ext cx="10100589" cy="536952"/>
          </a:xfrm>
        </p:spPr>
        <p:txBody>
          <a:bodyPr>
            <a:normAutofit fontScale="90000"/>
          </a:bodyPr>
          <a:lstStyle/>
          <a:p>
            <a:pPr algn="ctr"/>
            <a:r>
              <a:rPr lang="en-US" noProof="0" dirty="0"/>
              <a:t>About the project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2FB9BC-5989-6DE3-0648-43ADCF47FDD4}"/>
              </a:ext>
            </a:extLst>
          </p:cNvPr>
          <p:cNvSpPr txBox="1"/>
          <p:nvPr/>
        </p:nvSpPr>
        <p:spPr>
          <a:xfrm>
            <a:off x="1246909" y="55418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61AD31-B203-FCB7-A071-3048C85964CF}"/>
              </a:ext>
            </a:extLst>
          </p:cNvPr>
          <p:cNvSpPr txBox="1"/>
          <p:nvPr/>
        </p:nvSpPr>
        <p:spPr>
          <a:xfrm>
            <a:off x="1590288" y="1663833"/>
            <a:ext cx="9011424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 Analyze the </a:t>
            </a:r>
            <a:r>
              <a:rPr lang="en-US" altLang="en-US" sz="2400" b="1" dirty="0">
                <a:latin typeface="Arial" panose="020B0604020202020204" pitchFamily="34" charset="0"/>
              </a:rPr>
              <a:t>Impact of Federal Funding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 RDOF </a:t>
            </a:r>
            <a:r>
              <a:rPr lang="en-US" altLang="en-US" sz="2400" dirty="0">
                <a:latin typeface="Arial" panose="020B0604020202020204" pitchFamily="34" charset="0"/>
              </a:rPr>
              <a:t>( Rural Digital Opportunity Fund ) Allocation in </a:t>
            </a:r>
            <a:r>
              <a:rPr lang="en-US" altLang="en-US" sz="2400" b="1" dirty="0">
                <a:latin typeface="Arial" panose="020B0604020202020204" pitchFamily="34" charset="0"/>
              </a:rPr>
              <a:t>Oct 2020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 FCC Broadband data as of </a:t>
            </a:r>
            <a:r>
              <a:rPr lang="en-US" altLang="en-US" sz="2400" b="1" dirty="0">
                <a:latin typeface="Arial" panose="020B0604020202020204" pitchFamily="34" charset="0"/>
              </a:rPr>
              <a:t>Dec 2024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 Census Data as of </a:t>
            </a:r>
            <a:r>
              <a:rPr lang="en-US" altLang="en-US" sz="2400" b="1" dirty="0">
                <a:latin typeface="Arial" panose="020B0604020202020204" pitchFamily="34" charset="0"/>
              </a:rPr>
              <a:t>2023</a:t>
            </a:r>
            <a:r>
              <a:rPr lang="en-US" altLang="en-US" sz="2400" dirty="0">
                <a:latin typeface="Arial" panose="020B0604020202020204" pitchFamily="34" charset="0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 Was the Federal Funding Effective ?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1D597B-4410-9DAD-747D-417465418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007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715"/>
    </mc:Choice>
    <mc:Fallback xmlns="">
      <p:transition spd="slow" advTm="41715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3A0A4-B87D-59FF-911F-9E14393BC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8AB54-93E9-6B7F-8367-B84669219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8"/>
            <a:ext cx="10100589" cy="536952"/>
          </a:xfrm>
        </p:spPr>
        <p:txBody>
          <a:bodyPr>
            <a:normAutofit fontScale="90000"/>
          </a:bodyPr>
          <a:lstStyle/>
          <a:p>
            <a:pPr algn="ctr"/>
            <a:r>
              <a:rPr lang="en-US" noProof="0" dirty="0"/>
              <a:t>Data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5E6618-C60D-0BA9-F922-8B83B56D6D70}"/>
              </a:ext>
            </a:extLst>
          </p:cNvPr>
          <p:cNvSpPr txBox="1"/>
          <p:nvPr/>
        </p:nvSpPr>
        <p:spPr>
          <a:xfrm>
            <a:off x="1246909" y="55418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337A99-32AE-D608-401B-8F686EFC50B9}"/>
              </a:ext>
            </a:extLst>
          </p:cNvPr>
          <p:cNvSpPr txBox="1"/>
          <p:nvPr/>
        </p:nvSpPr>
        <p:spPr>
          <a:xfrm>
            <a:off x="1888957" y="1402662"/>
            <a:ext cx="88385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b="1" dirty="0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FF0083-52A2-2A7C-2369-524B54CE44A5}"/>
              </a:ext>
            </a:extLst>
          </p:cNvPr>
          <p:cNvSpPr txBox="1"/>
          <p:nvPr/>
        </p:nvSpPr>
        <p:spPr>
          <a:xfrm>
            <a:off x="913775" y="1310647"/>
            <a:ext cx="116897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Geography key :  State &gt; County &gt; Census Tracts &gt; 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Census Block Groups</a:t>
            </a:r>
            <a:r>
              <a:rPr lang="en-US" altLang="en-US" b="1" dirty="0">
                <a:latin typeface="Arial" panose="020B0604020202020204" pitchFamily="34" charset="0"/>
              </a:rPr>
              <a:t> &gt; Census Block</a:t>
            </a: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b="1" dirty="0">
              <a:latin typeface="Arial" panose="020B0604020202020204" pitchFamily="34" charset="0"/>
            </a:endParaRP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3E89ABE-B803-69D2-471D-92AE865B9A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2383243"/>
              </p:ext>
            </p:extLst>
          </p:nvPr>
        </p:nvGraphicFramePr>
        <p:xfrm>
          <a:off x="1464540" y="2420931"/>
          <a:ext cx="9262919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2584">
                  <a:extLst>
                    <a:ext uri="{9D8B030D-6E8A-4147-A177-3AD203B41FA5}">
                      <a16:colId xmlns:a16="http://schemas.microsoft.com/office/drawing/2014/main" val="1554594495"/>
                    </a:ext>
                  </a:extLst>
                </a:gridCol>
                <a:gridCol w="2356518">
                  <a:extLst>
                    <a:ext uri="{9D8B030D-6E8A-4147-A177-3AD203B41FA5}">
                      <a16:colId xmlns:a16="http://schemas.microsoft.com/office/drawing/2014/main" val="2317630800"/>
                    </a:ext>
                  </a:extLst>
                </a:gridCol>
                <a:gridCol w="1724685">
                  <a:extLst>
                    <a:ext uri="{9D8B030D-6E8A-4147-A177-3AD203B41FA5}">
                      <a16:colId xmlns:a16="http://schemas.microsoft.com/office/drawing/2014/main" val="1282388282"/>
                    </a:ext>
                  </a:extLst>
                </a:gridCol>
                <a:gridCol w="1610591">
                  <a:extLst>
                    <a:ext uri="{9D8B030D-6E8A-4147-A177-3AD203B41FA5}">
                      <a16:colId xmlns:a16="http://schemas.microsoft.com/office/drawing/2014/main" val="2843400801"/>
                    </a:ext>
                  </a:extLst>
                </a:gridCol>
                <a:gridCol w="1718541">
                  <a:extLst>
                    <a:ext uri="{9D8B030D-6E8A-4147-A177-3AD203B41FA5}">
                      <a16:colId xmlns:a16="http://schemas.microsoft.com/office/drawing/2014/main" val="3412337196"/>
                    </a:ext>
                  </a:extLst>
                </a:gridCol>
              </a:tblGrid>
              <a:tr h="631544">
                <a:tc>
                  <a:txBody>
                    <a:bodyPr/>
                    <a:lstStyle/>
                    <a:p>
                      <a:r>
                        <a:rPr lang="en-US" dirty="0"/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Raw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Prep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Final Data Points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2834147"/>
                  </a:ext>
                </a:extLst>
              </a:tr>
              <a:tr h="571397">
                <a:tc>
                  <a:txBody>
                    <a:bodyPr/>
                    <a:lstStyle/>
                    <a:p>
                      <a:r>
                        <a:rPr lang="en-US" dirty="0" err="1"/>
                        <a:t>Fcc.Gov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1600" dirty="0">
                          <a:latin typeface="Arial" panose="020B0604020202020204" pitchFamily="34" charset="0"/>
                        </a:rPr>
                        <a:t>Internet providers and speeds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~8 mil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Consolidation</a:t>
                      </a:r>
                      <a:r>
                        <a:rPr lang="en-US" dirty="0"/>
                        <a:t>, Summarization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~240,000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2159298"/>
                  </a:ext>
                </a:extLst>
              </a:tr>
              <a:tr h="811985">
                <a:tc>
                  <a:txBody>
                    <a:bodyPr/>
                    <a:lstStyle/>
                    <a:p>
                      <a:r>
                        <a:rPr lang="en-US" b="0" dirty="0" err="1">
                          <a:latin typeface="Arial" panose="020B0604020202020204" pitchFamily="34" charset="0"/>
                        </a:rPr>
                        <a:t>Census.gov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Median Income, Population, Minority Population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~240,000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Calculate Minority Population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~240,000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162677"/>
                  </a:ext>
                </a:extLst>
              </a:tr>
              <a:tr h="571397">
                <a:tc>
                  <a:txBody>
                    <a:bodyPr/>
                    <a:lstStyle/>
                    <a:p>
                      <a:r>
                        <a:rPr lang="en-US" b="0" dirty="0" err="1"/>
                        <a:t>Census.gov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Census Block Group Shape 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~240,000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~240,000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336392"/>
                  </a:ext>
                </a:extLst>
              </a:tr>
              <a:tr h="1052573">
                <a:tc>
                  <a:txBody>
                    <a:bodyPr/>
                    <a:lstStyle/>
                    <a:p>
                      <a:r>
                        <a:rPr lang="en-US" b="0" dirty="0" err="1"/>
                        <a:t>Fcc.Gov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RDOF (</a:t>
                      </a:r>
                      <a:r>
                        <a:rPr lang="en-US" altLang="en-US" sz="16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Rural Digital Opportunity Fund  ) 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Allocation</a:t>
                      </a:r>
                    </a:p>
                    <a:p>
                      <a:pPr marL="0" algn="l" defTabSz="914400" rtl="0" eaLnBrk="1" latinLnBrk="0" hangingPunct="1"/>
                      <a:endParaRPr lang="en-US" sz="16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61767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-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61767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8863433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4EAB1-3C23-CEBF-77B6-83D5EE2BA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8403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715"/>
    </mc:Choice>
    <mc:Fallback xmlns="">
      <p:transition spd="slow" advTm="41715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F1A23-E780-808E-E062-3604D783E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46F04-E0B8-3A1C-AD26-5BD1F6F7A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8"/>
            <a:ext cx="10100589" cy="536952"/>
          </a:xfrm>
        </p:spPr>
        <p:txBody>
          <a:bodyPr>
            <a:normAutofit fontScale="90000"/>
          </a:bodyPr>
          <a:lstStyle/>
          <a:p>
            <a:pPr algn="ctr"/>
            <a:r>
              <a:rPr lang="en-US" noProof="0" dirty="0"/>
              <a:t>Approach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E43457-8EFD-AF10-C0A6-F44E4C1752A0}"/>
              </a:ext>
            </a:extLst>
          </p:cNvPr>
          <p:cNvSpPr txBox="1"/>
          <p:nvPr/>
        </p:nvSpPr>
        <p:spPr>
          <a:xfrm>
            <a:off x="1246909" y="55418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056E4E-8B56-6329-EEA6-D327784565BF}"/>
              </a:ext>
            </a:extLst>
          </p:cNvPr>
          <p:cNvSpPr txBox="1"/>
          <p:nvPr/>
        </p:nvSpPr>
        <p:spPr>
          <a:xfrm>
            <a:off x="1676749" y="1555036"/>
            <a:ext cx="883850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 Integrate RDOF, Census &amp; FCC data to a Pandas Data frame. </a:t>
            </a:r>
          </a:p>
          <a:p>
            <a:pPr lvl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 Calculate New Metric : WAS ( Weighted </a:t>
            </a:r>
            <a:r>
              <a:rPr lang="en-US" altLang="en-US" dirty="0">
                <a:latin typeface="Arial" panose="020B0604020202020204" pitchFamily="34" charset="0"/>
              </a:rPr>
              <a:t>Internet</a:t>
            </a:r>
            <a:r>
              <a:rPr lang="en-US" altLang="en-US" b="1" dirty="0">
                <a:latin typeface="Arial" panose="020B0604020202020204" pitchFamily="34" charset="0"/>
              </a:rPr>
              <a:t> Availability Score )</a:t>
            </a:r>
          </a:p>
          <a:p>
            <a:pPr lvl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 Plot EDAs – WAS, RDOF, Income, Population</a:t>
            </a:r>
          </a:p>
          <a:p>
            <a:pPr lvl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 Calculate Funding Efficiency Index</a:t>
            </a:r>
          </a:p>
          <a:p>
            <a:pPr lvl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 Supervised Machine Learning. Predict Funding Efficiency Index</a:t>
            </a:r>
          </a:p>
          <a:p>
            <a:pPr lvl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 Unsupervised Machine Learning. K-Means Clustering</a:t>
            </a:r>
          </a:p>
          <a:p>
            <a:pPr lvl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 Develop Interactive dashboard ( Tableau ) for Policy Recommendations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b="1" dirty="0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11CF9E-E12E-E0E8-8D44-3B3D5C4D2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0333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715"/>
    </mc:Choice>
    <mc:Fallback xmlns="">
      <p:transition spd="slow" advTm="41715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66504-6C03-D486-CA37-586C0A9B5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2BC89-8A61-A57E-3007-7E4762A87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705" y="409898"/>
            <a:ext cx="10100589" cy="536952"/>
          </a:xfrm>
        </p:spPr>
        <p:txBody>
          <a:bodyPr>
            <a:normAutofit fontScale="90000"/>
          </a:bodyPr>
          <a:lstStyle/>
          <a:p>
            <a:pPr algn="ctr"/>
            <a:r>
              <a:rPr lang="en-US" noProof="0" dirty="0"/>
              <a:t>EDA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F203C7-BF7E-697D-A036-47E69715B00B}"/>
              </a:ext>
            </a:extLst>
          </p:cNvPr>
          <p:cNvSpPr txBox="1"/>
          <p:nvPr/>
        </p:nvSpPr>
        <p:spPr>
          <a:xfrm>
            <a:off x="1246909" y="55418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DD4E8A-E7A7-655F-3412-2BA58201F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DF4C401-9E8B-430A-C86B-7D947CE81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41" y="1490973"/>
            <a:ext cx="4935906" cy="30762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72CA99F-EAB9-F477-B2AC-E2A12EABAF17}"/>
              </a:ext>
            </a:extLst>
          </p:cNvPr>
          <p:cNvSpPr txBox="1"/>
          <p:nvPr/>
        </p:nvSpPr>
        <p:spPr>
          <a:xfrm>
            <a:off x="1045705" y="4788216"/>
            <a:ext cx="39487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80% funding received &lt; $200,000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Underserved areas got up to $1.5 mil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34FA87D-CD2A-89EB-C568-E29A5AD36C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0674" y="1490973"/>
            <a:ext cx="4949875" cy="307628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26030BD-D4F6-48E8-5643-B11E3C5233B1}"/>
              </a:ext>
            </a:extLst>
          </p:cNvPr>
          <p:cNvSpPr txBox="1"/>
          <p:nvPr/>
        </p:nvSpPr>
        <p:spPr>
          <a:xfrm>
            <a:off x="6567056" y="4895487"/>
            <a:ext cx="52156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Funding Targets geographies with &lt; 2000 residents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Funding tapers of when population moves 6000+</a:t>
            </a:r>
          </a:p>
        </p:txBody>
      </p:sp>
    </p:spTree>
    <p:extLst>
      <p:ext uri="{BB962C8B-B14F-4D97-AF65-F5344CB8AC3E}">
        <p14:creationId xmlns:p14="http://schemas.microsoft.com/office/powerpoint/2010/main" val="2104746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889"/>
    </mc:Choice>
    <mc:Fallback xmlns="">
      <p:transition spd="slow" advTm="100889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E8677-2590-3220-D31A-E0CC24D20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3F819-EDB5-25EE-8788-4AC196398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705" y="409898"/>
            <a:ext cx="10100589" cy="536952"/>
          </a:xfrm>
        </p:spPr>
        <p:txBody>
          <a:bodyPr>
            <a:normAutofit fontScale="90000"/>
          </a:bodyPr>
          <a:lstStyle/>
          <a:p>
            <a:pPr algn="ctr"/>
            <a:r>
              <a:rPr lang="en-US" noProof="0" dirty="0"/>
              <a:t>EDA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8AB28E-E138-FF3B-E2A5-FBABAA5476E1}"/>
              </a:ext>
            </a:extLst>
          </p:cNvPr>
          <p:cNvSpPr txBox="1"/>
          <p:nvPr/>
        </p:nvSpPr>
        <p:spPr>
          <a:xfrm>
            <a:off x="1246909" y="55418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0ACE74-7EC6-5D94-B309-B22D1BFA8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2C1650-7E26-AAB3-C562-CA2C1D3BEC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705" y="1582304"/>
            <a:ext cx="4503547" cy="263640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6AF3C9A-061E-9B08-E014-AC0B388D782A}"/>
              </a:ext>
            </a:extLst>
          </p:cNvPr>
          <p:cNvSpPr txBox="1"/>
          <p:nvPr/>
        </p:nvSpPr>
        <p:spPr>
          <a:xfrm>
            <a:off x="1045705" y="4788216"/>
            <a:ext cx="43783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Middle Class focus – suburban to Rural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Funding reduces for Low income / Affluent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368B27-2274-ABDE-B9C6-2D50C125896F}"/>
              </a:ext>
            </a:extLst>
          </p:cNvPr>
          <p:cNvSpPr txBox="1"/>
          <p:nvPr/>
        </p:nvSpPr>
        <p:spPr>
          <a:xfrm>
            <a:off x="7023677" y="5249881"/>
            <a:ext cx="43783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Result Matrix indicating where the funds went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Most funding went to underserved market censusblock groups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61C76B7-D4A9-B1B7-1F84-F0D765D5BE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8920" y="794211"/>
            <a:ext cx="4727863" cy="4212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432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889"/>
    </mc:Choice>
    <mc:Fallback xmlns="">
      <p:transition spd="slow" advTm="100889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2C408-8F92-3D46-BB87-56E26C692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70273-85D4-87E7-E8A2-E3E4C1420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705" y="409898"/>
            <a:ext cx="10100589" cy="536952"/>
          </a:xfrm>
        </p:spPr>
        <p:txBody>
          <a:bodyPr>
            <a:normAutofit fontScale="90000"/>
          </a:bodyPr>
          <a:lstStyle/>
          <a:p>
            <a:pPr algn="ctr"/>
            <a:r>
              <a:rPr lang="en-US" noProof="0" dirty="0"/>
              <a:t>Supervised Machine Learning</a:t>
            </a:r>
            <a:br>
              <a:rPr lang="en-US" noProof="0" dirty="0"/>
            </a:br>
            <a:r>
              <a:rPr lang="en-US" sz="3600" noProof="0" dirty="0"/>
              <a:t>Random Forest Regressor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DC946E-D003-93AE-15CB-4B8FA31E7DD5}"/>
              </a:ext>
            </a:extLst>
          </p:cNvPr>
          <p:cNvSpPr txBox="1"/>
          <p:nvPr/>
        </p:nvSpPr>
        <p:spPr>
          <a:xfrm>
            <a:off x="1246909" y="55418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8E0E5F-7111-7346-1FA1-BA7DF408F071}"/>
              </a:ext>
            </a:extLst>
          </p:cNvPr>
          <p:cNvSpPr txBox="1"/>
          <p:nvPr/>
        </p:nvSpPr>
        <p:spPr>
          <a:xfrm>
            <a:off x="1045705" y="1997839"/>
            <a:ext cx="3246017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Target :  Funding Efficiency Index</a:t>
            </a:r>
          </a:p>
          <a:p>
            <a:endParaRPr lang="en-US" dirty="0"/>
          </a:p>
          <a:p>
            <a:r>
              <a:rPr lang="en-US" dirty="0"/>
              <a:t>Features:</a:t>
            </a:r>
          </a:p>
          <a:p>
            <a:r>
              <a:rPr lang="en-US" dirty="0"/>
              <a:t> 	 Tier1_Competitors </a:t>
            </a:r>
          </a:p>
          <a:p>
            <a:r>
              <a:rPr lang="en-US" dirty="0"/>
              <a:t>   	 Tier2_Competitors </a:t>
            </a:r>
          </a:p>
          <a:p>
            <a:r>
              <a:rPr lang="en-US" dirty="0"/>
              <a:t>    	 Tier3_Competitors </a:t>
            </a:r>
          </a:p>
          <a:p>
            <a:r>
              <a:rPr lang="en-US" dirty="0"/>
              <a:t>   	 Max_down_speed </a:t>
            </a:r>
          </a:p>
          <a:p>
            <a:r>
              <a:rPr lang="en-US" dirty="0"/>
              <a:t>    	 Median Income</a:t>
            </a:r>
          </a:p>
          <a:p>
            <a:r>
              <a:rPr lang="en-US" dirty="0"/>
              <a:t>	 Total Population </a:t>
            </a:r>
          </a:p>
          <a:p>
            <a:r>
              <a:rPr lang="en-US" dirty="0"/>
              <a:t>   	 Minority percentage</a:t>
            </a:r>
          </a:p>
          <a:p>
            <a:endParaRPr lang="en-US" dirty="0"/>
          </a:p>
          <a:p>
            <a:r>
              <a:rPr lang="en-US" dirty="0"/>
              <a:t>Hyper Parameters:</a:t>
            </a:r>
          </a:p>
          <a:p>
            <a:r>
              <a:rPr lang="en-US" dirty="0"/>
              <a:t>	n_estimators = 100</a:t>
            </a:r>
          </a:p>
          <a:p>
            <a:r>
              <a:rPr lang="en-US" dirty="0"/>
              <a:t>	random_state = 42</a:t>
            </a:r>
          </a:p>
          <a:p>
            <a:r>
              <a:rPr lang="en-US" dirty="0"/>
              <a:t>	n_jobs = -1</a:t>
            </a:r>
          </a:p>
          <a:p>
            <a:r>
              <a:rPr lang="en-US" dirty="0"/>
              <a:t>	train size = 20%</a:t>
            </a:r>
          </a:p>
          <a:p>
            <a:endParaRPr lang="en-US" dirty="0"/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22D24DC1-9466-C8A1-1449-61EF42EC4C25}"/>
              </a:ext>
            </a:extLst>
          </p:cNvPr>
          <p:cNvSpPr/>
          <p:nvPr/>
        </p:nvSpPr>
        <p:spPr>
          <a:xfrm>
            <a:off x="4374574" y="3200400"/>
            <a:ext cx="1007918" cy="4572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9D96FE-A10C-E9F5-35D1-3828B949E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A8EAAD-B1CE-CA24-3AEF-670ED91243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1296" y="2381250"/>
            <a:ext cx="6311900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579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889"/>
    </mc:Choice>
    <mc:Fallback xmlns="">
      <p:transition spd="slow" advTm="100889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8E74B-12DC-6024-B987-56240A211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45D50-9375-DB79-A56A-1262CECAC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705" y="409898"/>
            <a:ext cx="10100589" cy="536952"/>
          </a:xfrm>
        </p:spPr>
        <p:txBody>
          <a:bodyPr>
            <a:normAutofit fontScale="90000"/>
          </a:bodyPr>
          <a:lstStyle/>
          <a:p>
            <a:pPr algn="ctr"/>
            <a:r>
              <a:rPr lang="en-US" noProof="0" dirty="0"/>
              <a:t>Unsupervised Machine Learning</a:t>
            </a:r>
            <a:br>
              <a:rPr lang="en-US" noProof="0" dirty="0"/>
            </a:br>
            <a:r>
              <a:rPr lang="en-US" sz="3200" noProof="0" dirty="0"/>
              <a:t>K-means Clustering</a:t>
            </a:r>
            <a:endParaRPr lang="en-US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B4A85B-8A71-220D-4974-3C9B25E01229}"/>
              </a:ext>
            </a:extLst>
          </p:cNvPr>
          <p:cNvSpPr txBox="1"/>
          <p:nvPr/>
        </p:nvSpPr>
        <p:spPr>
          <a:xfrm>
            <a:off x="1246909" y="55418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noProof="0" dirty="0"/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2BB1478B-F0C6-B877-FD95-43B019BF97E9}"/>
              </a:ext>
            </a:extLst>
          </p:cNvPr>
          <p:cNvSpPr/>
          <p:nvPr/>
        </p:nvSpPr>
        <p:spPr>
          <a:xfrm>
            <a:off x="4166755" y="2587336"/>
            <a:ext cx="1007918" cy="4572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83F23-66D7-39C4-D0B7-38EC01F5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FA5B35-4DA9-B355-878E-DA10345AC5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5421" y="1370965"/>
            <a:ext cx="5134841" cy="359713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E6649F0-DD22-DCF6-5B59-72598C0838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1568" y="5084659"/>
            <a:ext cx="3900632" cy="136344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1CD4834-CF23-13DF-020A-E4C1EE47DCA2}"/>
              </a:ext>
            </a:extLst>
          </p:cNvPr>
          <p:cNvSpPr txBox="1"/>
          <p:nvPr/>
        </p:nvSpPr>
        <p:spPr>
          <a:xfrm>
            <a:off x="1045705" y="2153871"/>
            <a:ext cx="299152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Cluster Features = WAS, RDOF</a:t>
            </a:r>
          </a:p>
          <a:p>
            <a:endParaRPr lang="en-US" dirty="0"/>
          </a:p>
          <a:p>
            <a:r>
              <a:rPr lang="en-US" dirty="0"/>
              <a:t>Hyper Parameters : </a:t>
            </a:r>
          </a:p>
          <a:p>
            <a:r>
              <a:rPr lang="en-US" dirty="0" err="1"/>
              <a:t>n_clusters</a:t>
            </a:r>
            <a:r>
              <a:rPr lang="en-US" dirty="0"/>
              <a:t> = 3, </a:t>
            </a:r>
          </a:p>
          <a:p>
            <a:r>
              <a:rPr lang="en-US" dirty="0"/>
              <a:t>random_state = 42,</a:t>
            </a:r>
          </a:p>
          <a:p>
            <a:r>
              <a:rPr lang="en-US" dirty="0" err="1"/>
              <a:t>n_init</a:t>
            </a:r>
            <a:r>
              <a:rPr lang="en-US" dirty="0"/>
              <a:t> = 10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2248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889"/>
    </mc:Choice>
    <mc:Fallback xmlns="">
      <p:transition spd="slow" advTm="100889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1E91F-A281-7FB9-F422-8E5F70110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08D97-D424-34B5-9421-6C14D7856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705" y="34425"/>
            <a:ext cx="10100589" cy="536952"/>
          </a:xfrm>
        </p:spPr>
        <p:txBody>
          <a:bodyPr>
            <a:normAutofit fontScale="90000"/>
          </a:bodyPr>
          <a:lstStyle/>
          <a:p>
            <a:pPr algn="ctr"/>
            <a:r>
              <a:rPr lang="en-US" noProof="0" dirty="0"/>
              <a:t>Interactive Dashboard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4E8FF6-F0FD-BDF3-C40D-DFC7493D2A5D}"/>
              </a:ext>
            </a:extLst>
          </p:cNvPr>
          <p:cNvSpPr txBox="1"/>
          <p:nvPr/>
        </p:nvSpPr>
        <p:spPr>
          <a:xfrm>
            <a:off x="1246909" y="55509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B32E35-5837-C579-F2A4-289516448029}"/>
              </a:ext>
            </a:extLst>
          </p:cNvPr>
          <p:cNvSpPr txBox="1"/>
          <p:nvPr/>
        </p:nvSpPr>
        <p:spPr>
          <a:xfrm>
            <a:off x="838200" y="6488668"/>
            <a:ext cx="956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5"/>
              </a:rPr>
              <a:t>https://public.tableau.com/app/profile/amal.rozario/viz/RDOFPolicyRecommendations/Dashboard1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188AD7-0456-8A14-4AFF-C7DBDDCBE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724030-30F8-2FFA-B5AD-031075A02D24}"/>
              </a:ext>
            </a:extLst>
          </p:cNvPr>
          <p:cNvSpPr txBox="1"/>
          <p:nvPr/>
        </p:nvSpPr>
        <p:spPr>
          <a:xfrm>
            <a:off x="195525" y="860136"/>
            <a:ext cx="120263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Interactive</a:t>
            </a:r>
          </a:p>
          <a:p>
            <a:r>
              <a:rPr lang="en-US" dirty="0"/>
              <a:t>Dashboard</a:t>
            </a:r>
          </a:p>
          <a:p>
            <a:r>
              <a:rPr lang="en-US" dirty="0"/>
              <a:t>Demo</a:t>
            </a:r>
          </a:p>
        </p:txBody>
      </p:sp>
      <p:pic>
        <p:nvPicPr>
          <p:cNvPr id="4" name="Dashboard_Demo2.mp4">
            <a:hlinkClick r:id="" action="ppaction://media"/>
            <a:extLst>
              <a:ext uri="{FF2B5EF4-FFF2-40B4-BE49-F238E27FC236}">
                <a16:creationId xmlns:a16="http://schemas.microsoft.com/office/drawing/2014/main" id="{692AB64A-6EB1-F581-6677-6761D64804E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790156" y="510993"/>
            <a:ext cx="7649210" cy="597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223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889"/>
    </mc:Choice>
    <mc:Fallback xmlns="">
      <p:transition spd="slow" advTm="10088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146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A832A-B7AC-286A-0F78-3CE6D3817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FCD5B-CAB3-BAFD-CDE0-13CBEFE79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693" y="146093"/>
            <a:ext cx="10100589" cy="923329"/>
          </a:xfrm>
        </p:spPr>
        <p:txBody>
          <a:bodyPr>
            <a:normAutofit/>
          </a:bodyPr>
          <a:lstStyle/>
          <a:p>
            <a:pPr algn="ctr"/>
            <a:r>
              <a:rPr lang="en-US" noProof="0" dirty="0"/>
              <a:t>References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413367-8FAC-E0A9-5D21-BA32E252AFBB}"/>
              </a:ext>
            </a:extLst>
          </p:cNvPr>
          <p:cNvSpPr txBox="1"/>
          <p:nvPr/>
        </p:nvSpPr>
        <p:spPr>
          <a:xfrm>
            <a:off x="1246909" y="55418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D4834C-DA12-C28C-29E9-F552DD0E4E5F}"/>
              </a:ext>
            </a:extLst>
          </p:cNvPr>
          <p:cNvSpPr txBox="1"/>
          <p:nvPr/>
        </p:nvSpPr>
        <p:spPr>
          <a:xfrm>
            <a:off x="1246909" y="1379577"/>
            <a:ext cx="9910149" cy="3862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/>
              <a:t>[1] </a:t>
            </a:r>
            <a:r>
              <a:rPr lang="en-US" sz="1400" dirty="0" err="1"/>
              <a:t>Michael,Amal</a:t>
            </a:r>
            <a:r>
              <a:rPr lang="en-US" sz="1400" dirty="0"/>
              <a:t>. (2025) Amal </a:t>
            </a:r>
            <a:r>
              <a:rPr lang="en-US" sz="1400" dirty="0" err="1"/>
              <a:t>michaels</a:t>
            </a:r>
            <a:r>
              <a:rPr lang="en-US" sz="1400" dirty="0"/>
              <a:t> data science practicum 1. Accessed: Mar. 17, 2026. 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https://</a:t>
            </a:r>
            <a:r>
              <a:rPr lang="en-US" sz="1400" dirty="0" err="1"/>
              <a:t>amalsdatascience.blogspot.com</a:t>
            </a:r>
            <a:r>
              <a:rPr lang="en-US" sz="1400" dirty="0"/>
              <a:t>/2025/10/wrapping-up-geospatial-dive-into-</a:t>
            </a:r>
            <a:r>
              <a:rPr lang="en-US" sz="1400" dirty="0" err="1"/>
              <a:t>us.html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/>
              <a:t>[2] Federal Communications Commission. (2024) National broadband map: Broadband serviceable location fabric. Accessed: Mar. 17,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2026. : https://</a:t>
            </a:r>
            <a:r>
              <a:rPr lang="en-US" sz="1400" dirty="0" err="1"/>
              <a:t>broadbandmap.fcc.gov</a:t>
            </a:r>
            <a:r>
              <a:rPr lang="en-US" sz="1400" dirty="0"/>
              <a:t>/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[3] U.S. Department of the Treasury. (2024) </a:t>
            </a:r>
            <a:r>
              <a:rPr lang="en-US" sz="1400" dirty="0" err="1"/>
              <a:t>USASpending.gov</a:t>
            </a:r>
            <a:r>
              <a:rPr lang="en-US" sz="1400" dirty="0"/>
              <a:t> </a:t>
            </a:r>
            <a:r>
              <a:rPr lang="en-US" sz="1400" dirty="0" err="1"/>
              <a:t>api</a:t>
            </a:r>
            <a:r>
              <a:rPr lang="en-US" sz="1400" dirty="0"/>
              <a:t> database. : https://</a:t>
            </a:r>
            <a:r>
              <a:rPr lang="en-US" sz="1400" dirty="0" err="1"/>
              <a:t>www.usaspending.gov</a:t>
            </a:r>
            <a:r>
              <a:rPr lang="en-US" sz="1400" dirty="0"/>
              <a:t>/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[4] U.S. Census Bureau. (2023) American community survey 5-year estimates (2018-2022). : https://</a:t>
            </a:r>
            <a:r>
              <a:rPr lang="en-US" sz="1400" dirty="0" err="1"/>
              <a:t>data.census.gov</a:t>
            </a:r>
            <a:r>
              <a:rPr lang="en-US" sz="1400" dirty="0"/>
              <a:t>/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[5] Federal Communications Commission. (2020) Auction 904: Rural digital opportunity fund (</a:t>
            </a:r>
            <a:r>
              <a:rPr lang="en-US" sz="1400" dirty="0" err="1"/>
              <a:t>rdof</a:t>
            </a:r>
            <a:r>
              <a:rPr lang="en-US" sz="1400" dirty="0"/>
              <a:t>). Accessed: Mar. 17, 2026. 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: https://</a:t>
            </a:r>
            <a:r>
              <a:rPr lang="en-US" sz="1400" dirty="0" err="1"/>
              <a:t>www.fcc.gov</a:t>
            </a:r>
            <a:r>
              <a:rPr lang="en-US" sz="1400" dirty="0"/>
              <a:t>/auction/904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[6] U. Paul, V. Gunasekaran, J. Liu, T. N. </a:t>
            </a:r>
            <a:r>
              <a:rPr lang="en-US" sz="1400" dirty="0" err="1"/>
              <a:t>Narechania</a:t>
            </a:r>
            <a:r>
              <a:rPr lang="en-US" sz="1400" dirty="0"/>
              <a:t>, A. Gupta, and E. Belding, “Decoding the divide: Analyzing disparities in broadband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plans offered by major us isps,” in Proceedings of the ACM SIGCOMM 2023 Conference, ser. SIGCOMM ’23. New York, NY, USA: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Association for Computing Machinery, 2023, pp. 1–14. [Online]. Available: https://</a:t>
            </a:r>
            <a:r>
              <a:rPr lang="en-US" sz="1400" dirty="0" err="1"/>
              <a:t>doi.org</a:t>
            </a:r>
            <a:r>
              <a:rPr lang="en-US" sz="1400" dirty="0"/>
              <a:t>/10.1145/3603269.3604831</a:t>
            </a:r>
          </a:p>
          <a:p>
            <a:endParaRPr lang="en-US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12BFB8-6441-646F-2E73-89055503E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863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889"/>
    </mc:Choice>
    <mc:Fallback xmlns="">
      <p:transition spd="slow" advTm="100889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B948C-AFE5-6133-E659-64E7EC87A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CDD6F-226E-50BD-EAED-7E58A8256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693" y="146093"/>
            <a:ext cx="10100589" cy="923329"/>
          </a:xfrm>
        </p:spPr>
        <p:txBody>
          <a:bodyPr>
            <a:normAutofit/>
          </a:bodyPr>
          <a:lstStyle/>
          <a:p>
            <a:pPr algn="ctr"/>
            <a:r>
              <a:rPr lang="en-US" noProof="0" dirty="0"/>
              <a:t>Appendix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486194-1E73-AAA6-44D5-8DC7BBD0F863}"/>
              </a:ext>
            </a:extLst>
          </p:cNvPr>
          <p:cNvSpPr txBox="1"/>
          <p:nvPr/>
        </p:nvSpPr>
        <p:spPr>
          <a:xfrm>
            <a:off x="1246909" y="55418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7EA7FA-515A-B82F-454A-E70C4A51C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74D815-44A6-06B2-3E0B-DC16E91E9677}"/>
              </a:ext>
            </a:extLst>
          </p:cNvPr>
          <p:cNvSpPr txBox="1"/>
          <p:nvPr/>
        </p:nvSpPr>
        <p:spPr>
          <a:xfrm>
            <a:off x="580119" y="849512"/>
            <a:ext cx="3099816" cy="2308324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i="1" u="sng" dirty="0"/>
              <a:t>WAS Calculation</a:t>
            </a:r>
          </a:p>
          <a:p>
            <a:r>
              <a:rPr lang="en-US" sz="1200" dirty="0"/>
              <a:t>Tier1 Competitor  : Speed &gt; = 1000</a:t>
            </a:r>
          </a:p>
          <a:p>
            <a:r>
              <a:rPr lang="en-US" sz="1200" dirty="0"/>
              <a:t>Tier2 Competitor  : Speed &gt; = 100 and &lt; 1000</a:t>
            </a:r>
          </a:p>
          <a:p>
            <a:r>
              <a:rPr lang="en-US" sz="1200" dirty="0"/>
              <a:t>Tier3 Competitor : Speed &gt;=25 and &lt; 100</a:t>
            </a:r>
          </a:p>
          <a:p>
            <a:endParaRPr lang="en-US" sz="1200" dirty="0"/>
          </a:p>
          <a:p>
            <a:r>
              <a:rPr lang="en-US" sz="1200" dirty="0"/>
              <a:t>WAS = Tier1_Competitor_count*5</a:t>
            </a:r>
          </a:p>
          <a:p>
            <a:r>
              <a:rPr lang="en-US" sz="1200" dirty="0"/>
              <a:t>+ Tier2_Competitor_count*3</a:t>
            </a:r>
          </a:p>
          <a:p>
            <a:r>
              <a:rPr lang="en-US" sz="1200" dirty="0"/>
              <a:t>+ Tier3_Competitor_count*1</a:t>
            </a:r>
          </a:p>
          <a:p>
            <a:endParaRPr lang="en-US" sz="1200" dirty="0"/>
          </a:p>
          <a:p>
            <a:r>
              <a:rPr lang="en-US" sz="1200" dirty="0"/>
              <a:t>* Normalized to 100</a:t>
            </a:r>
          </a:p>
          <a:p>
            <a:endParaRPr lang="en-US" sz="1200" dirty="0"/>
          </a:p>
          <a:p>
            <a:endParaRPr lang="en-US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F80C8F-55EF-34C6-9A25-1EC56E973B92}"/>
              </a:ext>
            </a:extLst>
          </p:cNvPr>
          <p:cNvSpPr txBox="1"/>
          <p:nvPr/>
        </p:nvSpPr>
        <p:spPr>
          <a:xfrm>
            <a:off x="3897653" y="1787545"/>
            <a:ext cx="1730987" cy="461665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b="1" i="1" u="sng" dirty="0"/>
              <a:t>FEI Calculation</a:t>
            </a:r>
          </a:p>
          <a:p>
            <a:r>
              <a:rPr lang="en-US" sz="1200" dirty="0"/>
              <a:t>FEI = WAS / RDOF / 1000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68DCF4-ED6C-69D8-7828-4EFBE7D2B82B}"/>
              </a:ext>
            </a:extLst>
          </p:cNvPr>
          <p:cNvSpPr txBox="1"/>
          <p:nvPr/>
        </p:nvSpPr>
        <p:spPr>
          <a:xfrm>
            <a:off x="497840" y="3429000"/>
            <a:ext cx="9408160" cy="289310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b="1" i="1" u="sng" dirty="0"/>
              <a:t>National Policy Calculation</a:t>
            </a:r>
          </a:p>
          <a:p>
            <a:r>
              <a:rPr lang="en-US" sz="1000" dirty="0"/>
              <a:t># 1. Scaling the variables</a:t>
            </a:r>
          </a:p>
          <a:p>
            <a:r>
              <a:rPr lang="en-US" sz="1000" dirty="0" err="1"/>
              <a:t>df_core</a:t>
            </a:r>
            <a:r>
              <a:rPr lang="en-US" sz="1000" dirty="0"/>
              <a:t>['</a:t>
            </a:r>
            <a:r>
              <a:rPr lang="en-US" sz="1000" dirty="0" err="1"/>
              <a:t>WAS_scaled</a:t>
            </a:r>
            <a:r>
              <a:rPr lang="en-US" sz="1000" dirty="0"/>
              <a:t>'] = (</a:t>
            </a:r>
            <a:r>
              <a:rPr lang="en-US" sz="1000" dirty="0" err="1"/>
              <a:t>df_core</a:t>
            </a:r>
            <a:r>
              <a:rPr lang="en-US" sz="1000" dirty="0"/>
              <a:t>['WAS'] - </a:t>
            </a:r>
            <a:r>
              <a:rPr lang="en-US" sz="1000" dirty="0" err="1"/>
              <a:t>df_core</a:t>
            </a:r>
            <a:r>
              <a:rPr lang="en-US" sz="1000" dirty="0"/>
              <a:t>['WAS'].min()) / (</a:t>
            </a:r>
            <a:r>
              <a:rPr lang="en-US" sz="1000" dirty="0" err="1"/>
              <a:t>df_core</a:t>
            </a:r>
            <a:r>
              <a:rPr lang="en-US" sz="1000" dirty="0"/>
              <a:t>['WAS'].max() - </a:t>
            </a:r>
            <a:r>
              <a:rPr lang="en-US" sz="1000" dirty="0" err="1"/>
              <a:t>df_core</a:t>
            </a:r>
            <a:r>
              <a:rPr lang="en-US" sz="1000" dirty="0"/>
              <a:t>['WAS'].min())</a:t>
            </a:r>
          </a:p>
          <a:p>
            <a:r>
              <a:rPr lang="en-US" sz="1000" dirty="0" err="1"/>
              <a:t>df_core</a:t>
            </a:r>
            <a:r>
              <a:rPr lang="en-US" sz="1000" dirty="0"/>
              <a:t>['</a:t>
            </a:r>
            <a:r>
              <a:rPr lang="en-US" sz="1000" dirty="0" err="1"/>
              <a:t>FEI_scaled</a:t>
            </a:r>
            <a:r>
              <a:rPr lang="en-US" sz="1000" dirty="0"/>
              <a:t>'] = (</a:t>
            </a:r>
            <a:r>
              <a:rPr lang="en-US" sz="1000" dirty="0" err="1"/>
              <a:t>df_core</a:t>
            </a:r>
            <a:r>
              <a:rPr lang="en-US" sz="1000" dirty="0"/>
              <a:t>['FEI'] - </a:t>
            </a:r>
            <a:r>
              <a:rPr lang="en-US" sz="1000" dirty="0" err="1"/>
              <a:t>df_core</a:t>
            </a:r>
            <a:r>
              <a:rPr lang="en-US" sz="1000" dirty="0"/>
              <a:t>['FEI'].min()) / (</a:t>
            </a:r>
            <a:r>
              <a:rPr lang="en-US" sz="1000" dirty="0" err="1"/>
              <a:t>df_core</a:t>
            </a:r>
            <a:r>
              <a:rPr lang="en-US" sz="1000" dirty="0"/>
              <a:t>['FEI'].max() - </a:t>
            </a:r>
            <a:r>
              <a:rPr lang="en-US" sz="1000" dirty="0" err="1"/>
              <a:t>df_core</a:t>
            </a:r>
            <a:r>
              <a:rPr lang="en-US" sz="1000" dirty="0"/>
              <a:t>['FEI'].min())</a:t>
            </a:r>
          </a:p>
          <a:p>
            <a:r>
              <a:rPr lang="en-US" sz="1000" dirty="0" err="1"/>
              <a:t>df_core</a:t>
            </a:r>
            <a:r>
              <a:rPr lang="en-US" sz="1000" dirty="0"/>
              <a:t>['</a:t>
            </a:r>
            <a:r>
              <a:rPr lang="en-US" sz="1000" dirty="0" err="1"/>
              <a:t>RDOF_scaled</a:t>
            </a:r>
            <a:r>
              <a:rPr lang="en-US" sz="1000" dirty="0"/>
              <a:t>'] = (</a:t>
            </a:r>
            <a:r>
              <a:rPr lang="en-US" sz="1000" dirty="0" err="1"/>
              <a:t>df_core</a:t>
            </a:r>
            <a:r>
              <a:rPr lang="en-US" sz="1000" dirty="0"/>
              <a:t>['</a:t>
            </a:r>
            <a:r>
              <a:rPr lang="en-US" sz="1000" dirty="0" err="1"/>
              <a:t>RDOF_Allocation</a:t>
            </a:r>
            <a:r>
              <a:rPr lang="en-US" sz="1000" dirty="0"/>
              <a:t>'] - </a:t>
            </a:r>
            <a:r>
              <a:rPr lang="en-US" sz="1000" dirty="0" err="1"/>
              <a:t>df_core</a:t>
            </a:r>
            <a:r>
              <a:rPr lang="en-US" sz="1000" dirty="0"/>
              <a:t>['</a:t>
            </a:r>
            <a:r>
              <a:rPr lang="en-US" sz="1000" dirty="0" err="1"/>
              <a:t>RDOF_Allocation</a:t>
            </a:r>
            <a:r>
              <a:rPr lang="en-US" sz="1000" dirty="0"/>
              <a:t>'].min()) / (</a:t>
            </a:r>
            <a:r>
              <a:rPr lang="en-US" sz="1000" dirty="0" err="1"/>
              <a:t>df_core</a:t>
            </a:r>
            <a:r>
              <a:rPr lang="en-US" sz="1000" dirty="0"/>
              <a:t>['</a:t>
            </a:r>
            <a:r>
              <a:rPr lang="en-US" sz="1000" dirty="0" err="1"/>
              <a:t>RDOF_Allocation</a:t>
            </a:r>
            <a:r>
              <a:rPr lang="en-US" sz="1000" dirty="0"/>
              <a:t>'].max() - </a:t>
            </a:r>
            <a:r>
              <a:rPr lang="en-US" sz="1000" dirty="0" err="1"/>
              <a:t>df_core</a:t>
            </a:r>
            <a:r>
              <a:rPr lang="en-US" sz="1000" dirty="0"/>
              <a:t>['</a:t>
            </a:r>
            <a:r>
              <a:rPr lang="en-US" sz="1000" dirty="0" err="1"/>
              <a:t>RDOF_Allocation</a:t>
            </a:r>
            <a:r>
              <a:rPr lang="en-US" sz="1000" dirty="0"/>
              <a:t>'].min())</a:t>
            </a:r>
          </a:p>
          <a:p>
            <a:endParaRPr lang="en-US" sz="1000" dirty="0"/>
          </a:p>
          <a:p>
            <a:r>
              <a:rPr lang="en-US" sz="1000" dirty="0"/>
              <a:t># 2. Score Calculation (Lower = More Urgent)</a:t>
            </a:r>
          </a:p>
          <a:p>
            <a:r>
              <a:rPr lang="en-US" sz="1000" dirty="0" err="1"/>
              <a:t>df_core</a:t>
            </a:r>
            <a:r>
              <a:rPr lang="en-US" sz="1000" dirty="0"/>
              <a:t>['</a:t>
            </a:r>
            <a:r>
              <a:rPr lang="en-US" sz="1000" dirty="0" err="1"/>
              <a:t>Policy_Score</a:t>
            </a:r>
            <a:r>
              <a:rPr lang="en-US" sz="1000" dirty="0"/>
              <a:t>'] = (</a:t>
            </a:r>
            <a:r>
              <a:rPr lang="en-US" sz="1000" dirty="0" err="1"/>
              <a:t>df_core</a:t>
            </a:r>
            <a:r>
              <a:rPr lang="en-US" sz="1000" dirty="0"/>
              <a:t>['</a:t>
            </a:r>
            <a:r>
              <a:rPr lang="en-US" sz="1000" dirty="0" err="1"/>
              <a:t>FEI_scaled</a:t>
            </a:r>
            <a:r>
              <a:rPr lang="en-US" sz="1000" dirty="0"/>
              <a:t>'] * 0.4) + (</a:t>
            </a:r>
            <a:r>
              <a:rPr lang="en-US" sz="1000" dirty="0" err="1"/>
              <a:t>df_core</a:t>
            </a:r>
            <a:r>
              <a:rPr lang="en-US" sz="1000" dirty="0"/>
              <a:t>['</a:t>
            </a:r>
            <a:r>
              <a:rPr lang="en-US" sz="1000" dirty="0" err="1"/>
              <a:t>WAS_scaled</a:t>
            </a:r>
            <a:r>
              <a:rPr lang="en-US" sz="1000" dirty="0"/>
              <a:t>'] * 0.4) - (</a:t>
            </a:r>
            <a:r>
              <a:rPr lang="en-US" sz="1000" dirty="0" err="1"/>
              <a:t>df_core</a:t>
            </a:r>
            <a:r>
              <a:rPr lang="en-US" sz="1000" dirty="0"/>
              <a:t>['</a:t>
            </a:r>
            <a:r>
              <a:rPr lang="en-US" sz="1000" dirty="0" err="1"/>
              <a:t>RDOF_scaled</a:t>
            </a:r>
            <a:r>
              <a:rPr lang="en-US" sz="1000" dirty="0"/>
              <a:t>'] * 0.2)</a:t>
            </a:r>
          </a:p>
          <a:p>
            <a:endParaRPr lang="en-US" sz="1000" dirty="0"/>
          </a:p>
          <a:p>
            <a:r>
              <a:rPr lang="en-US" sz="1000" dirty="0"/>
              <a:t># 3. Dynamic Thresholds for 2%, 15% and cumulative 85%)</a:t>
            </a:r>
          </a:p>
          <a:p>
            <a:r>
              <a:rPr lang="en-US" sz="1000" dirty="0"/>
              <a:t>q02, q15, q85 = </a:t>
            </a:r>
            <a:r>
              <a:rPr lang="en-US" sz="1000" dirty="0" err="1"/>
              <a:t>df_core</a:t>
            </a:r>
            <a:r>
              <a:rPr lang="en-US" sz="1000" dirty="0"/>
              <a:t>['</a:t>
            </a:r>
            <a:r>
              <a:rPr lang="en-US" sz="1000" dirty="0" err="1"/>
              <a:t>Policy_Score</a:t>
            </a:r>
            <a:r>
              <a:rPr lang="en-US" sz="1000" dirty="0"/>
              <a:t>'].quantile([0.02, 0.15, 0.85])</a:t>
            </a:r>
          </a:p>
          <a:p>
            <a:endParaRPr lang="en-US" sz="1000" dirty="0"/>
          </a:p>
          <a:p>
            <a:r>
              <a:rPr lang="en-US" sz="1000" dirty="0"/>
              <a:t>def </a:t>
            </a:r>
            <a:r>
              <a:rPr lang="en-US" sz="1000" dirty="0" err="1"/>
              <a:t>assign_policy</a:t>
            </a:r>
            <a:r>
              <a:rPr lang="en-US" sz="1000" dirty="0"/>
              <a:t>(score):</a:t>
            </a:r>
          </a:p>
          <a:p>
            <a:r>
              <a:rPr lang="en-US" sz="1000" dirty="0"/>
              <a:t>    if score &lt;= q02: return "P1: Urgent Audit (Bottom 2%)"</a:t>
            </a:r>
          </a:p>
          <a:p>
            <a:r>
              <a:rPr lang="en-US" sz="1000" dirty="0"/>
              <a:t>    if score &lt;= q15: return "P2: Performance Review (2-15%)"</a:t>
            </a:r>
          </a:p>
          <a:p>
            <a:r>
              <a:rPr lang="en-US" sz="1000" dirty="0"/>
              <a:t>    if score &lt;= q85: return "P3: Sustainable Growth (15-85%)"</a:t>
            </a:r>
          </a:p>
          <a:p>
            <a:r>
              <a:rPr lang="en-US" sz="1000" dirty="0"/>
              <a:t>    return "P4: Strategic Leader (Top 15%)"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857474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889"/>
    </mc:Choice>
    <mc:Fallback xmlns="">
      <p:transition spd="slow" advTm="100889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14323</TotalTime>
  <Words>1089</Words>
  <Application>Microsoft Macintosh PowerPoint</Application>
  <PresentationFormat>Widescreen</PresentationFormat>
  <Paragraphs>161</Paragraphs>
  <Slides>11</Slides>
  <Notes>11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Evaluating Federal Funding  on  Broadband Equity </vt:lpstr>
      <vt:lpstr>About the project</vt:lpstr>
      <vt:lpstr>Data</vt:lpstr>
      <vt:lpstr>Approach</vt:lpstr>
      <vt:lpstr>EDA</vt:lpstr>
      <vt:lpstr>EDA</vt:lpstr>
      <vt:lpstr>Supervised Machine Learning Random Forest Regressor</vt:lpstr>
      <vt:lpstr>Unsupervised Machine Learning K-means Clustering</vt:lpstr>
      <vt:lpstr>Interactive Dashboard</vt:lpstr>
      <vt:lpstr>References</vt:lpstr>
      <vt:lpstr>Appendix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Pursuit of Happiness</dc:title>
  <dc:creator>Amal Michael</dc:creator>
  <cp:lastModifiedBy>Amal Michael</cp:lastModifiedBy>
  <cp:revision>111</cp:revision>
  <dcterms:created xsi:type="dcterms:W3CDTF">2024-05-01T09:51:50Z</dcterms:created>
  <dcterms:modified xsi:type="dcterms:W3CDTF">2026-05-04T00:31:02Z</dcterms:modified>
</cp:coreProperties>
</file>